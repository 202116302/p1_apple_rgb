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RGB 이미지 기반 과실 분석 파이프라인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1645920" cy="8229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Input Image</a:t>
            </a:r>
            <a:br/>
            <a:r>
              <a:t>(RGB)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77440" y="1417320"/>
            <a:ext cx="457200" cy="36576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188720"/>
            <a:ext cx="2011680" cy="82296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Preprocessing</a:t>
            </a:r>
            <a:br/>
            <a:r>
              <a:t>White Balance</a:t>
            </a:r>
            <a:br/>
            <a:r>
              <a:t>+ CLAHE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9200" y="1417320"/>
            <a:ext cx="457200" cy="36576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7840" y="1188720"/>
            <a:ext cx="2194560" cy="82296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Object Detection</a:t>
            </a:r>
            <a:br/>
            <a:r>
              <a:t>YOLOv8n-seg</a:t>
            </a:r>
            <a:br/>
            <a:r>
              <a:t>(Instance Segment)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63840" y="1417320"/>
            <a:ext cx="457200" cy="36576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188720"/>
            <a:ext cx="1828800" cy="82296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</a:defRPr>
            </a:pPr>
            <a:r>
              <a:t>Cropped</a:t>
            </a:r>
            <a:br/>
            <a:r>
              <a:t>Apple ROIs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1274552" cy="38100"/>
          </a:xfrm>
          <a:prstGeom prst="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Stage 2: Quality Analysis (for each detected apple)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2743200" cy="109728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Disease Detection</a:t>
            </a:r>
            <a:br/>
            <a:r>
              <a:t>EfficientNet-B0</a:t>
            </a:r>
            <a:br/>
            <a:r>
              <a:t>(Binary Classification)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2743200" cy="6400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3E50"/>
                </a:solidFill>
              </a:defRPr>
            </a:pPr>
            <a:r>
              <a:t>정상 / 질병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148840" y="4160520"/>
            <a:ext cx="274320" cy="228600"/>
          </a:xfrm>
          <a:prstGeom prst="down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3017520"/>
            <a:ext cx="2743200" cy="109728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Size Classification</a:t>
            </a:r>
            <a:br/>
            <a:r>
              <a:t>EfficientNet-B0</a:t>
            </a:r>
            <a:br/>
            <a:r>
              <a:t>(3-Class Classification)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389120"/>
            <a:ext cx="2743200" cy="6400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3E50"/>
                </a:solidFill>
              </a:defRPr>
            </a:pPr>
            <a:r>
              <a:t>L / M / 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532120" y="4160520"/>
            <a:ext cx="274320" cy="228600"/>
          </a:xfrm>
          <a:prstGeom prst="down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0" y="3017520"/>
            <a:ext cx="2743200" cy="109728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Weight Prediction</a:t>
            </a:r>
            <a:br/>
            <a:r>
              <a:t>EfficientNet-B0</a:t>
            </a:r>
            <a:br/>
            <a:r>
              <a:t>(Regression)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4389120"/>
            <a:ext cx="2743200" cy="6400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3E50"/>
                </a:solidFill>
              </a:defRPr>
            </a:pPr>
            <a:r>
              <a:t>무게 (g)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915400" y="4160520"/>
            <a:ext cx="274320" cy="228600"/>
          </a:xfrm>
          <a:prstGeom prst="down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Image 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286000" cy="137160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Original</a:t>
            </a:r>
            <a:br/>
            <a:r>
              <a:t>RGB Image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91840" y="1874519"/>
            <a:ext cx="548640" cy="36576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1097280"/>
            <a:ext cx="2743200" cy="192024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White Balance</a:t>
            </a:r>
          </a:p>
          <a:p>
            <a:br/>
            <a:pPr algn="ctr">
              <a:defRPr sz="1100">
                <a:solidFill>
                  <a:srgbClr val="FFFFFF"/>
                </a:solidFill>
              </a:defRPr>
            </a:pPr>
            <a:r>
              <a:t>Gray World Algorithm</a:t>
            </a:r>
          </a:p>
          <a:p>
            <a:pPr algn="ctr">
              <a:defRPr sz="1000">
                <a:solidFill>
                  <a:srgbClr val="ECF0F1"/>
                </a:solidFill>
              </a:defRPr>
            </a:pPr>
            <a:r>
              <a:t>R' = R × (Avg / R_avg)</a:t>
            </a:r>
          </a:p>
          <a:p>
            <a:pPr algn="ctr">
              <a:defRPr sz="1000">
                <a:solidFill>
                  <a:srgbClr val="ECF0F1"/>
                </a:solidFill>
              </a:defRPr>
            </a:pPr>
            <a:r>
              <a:t>G' = G × (Avg / G_avg)</a:t>
            </a:r>
          </a:p>
          <a:p>
            <a:pPr algn="ctr">
              <a:defRPr sz="1000">
                <a:solidFill>
                  <a:srgbClr val="ECF0F1"/>
                </a:solidFill>
              </a:defRPr>
            </a:pPr>
            <a:r>
              <a:t>B' = B × (Avg / B_avg)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766560" y="1874519"/>
            <a:ext cx="548640" cy="36576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0" y="1097280"/>
            <a:ext cx="2926080" cy="192024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CLAHE</a:t>
            </a:r>
          </a:p>
          <a:p>
            <a:br/>
            <a:pPr algn="ctr">
              <a:defRPr sz="1000">
                <a:solidFill>
                  <a:srgbClr val="FFFFFF"/>
                </a:solidFill>
              </a:defRPr>
            </a:pPr>
            <a:r>
              <a:t>Contrast Limited Adaptive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Histogram Equalization</a:t>
            </a:r>
          </a:p>
          <a:p>
            <a:br/>
            <a:pPr algn="ctr">
              <a:defRPr sz="1000">
                <a:solidFill>
                  <a:srgbClr val="ECF0F1"/>
                </a:solidFill>
              </a:defRPr>
            </a:pPr>
            <a:r>
              <a:t>• LAB Color Space</a:t>
            </a:r>
          </a:p>
          <a:p>
            <a:pPr algn="ctr">
              <a:defRPr sz="1000">
                <a:solidFill>
                  <a:srgbClr val="ECF0F1"/>
                </a:solidFill>
              </a:defRPr>
            </a:pPr>
            <a:r>
              <a:t>• clipLimit = 2.0</a:t>
            </a:r>
          </a:p>
          <a:p>
            <a:pPr algn="ctr">
              <a:defRPr sz="1000">
                <a:solidFill>
                  <a:srgbClr val="ECF0F1"/>
                </a:solidFill>
              </a:defRPr>
            </a:pPr>
            <a:r>
              <a:t>• tileGridSize = 8×8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941832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전처리 목적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White Balance: 다양한 조명 조건에서 발생하는 색상 왜곡 보정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CLAHE: 이미지 대비 향상 및 밝기 편차 보정 (L채널만 적용하여 색상 왜곡 방지)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Results: Model Performance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Input Size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Apple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YOLOv8n-seg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640×640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mAP@50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99.44%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Disease Detection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EfficientNet-B0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224×224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Size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EfficientNet-B0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224×224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66.88%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Needs Improvement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Weight Prediction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EfficientNet-B0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224×224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30.11g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Table. Overall System Performance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38328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Korean Std.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 Range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Avg. Weight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특 (特)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327 ~ 450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363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상 (上)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255 ~ 326 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282 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보통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185 ~ 254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245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00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Size Grade Classification Criteria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486400" cy="1645920"/>
          </a:xfrm>
          <a:prstGeom prst="round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Dataset Information</a:t>
            </a:r>
          </a:p>
          <a:p>
            <a:pPr algn="ctr">
              <a:defRPr sz="1100">
                <a:solidFill>
                  <a:srgbClr val="ECF0F1"/>
                </a:solidFill>
              </a:defRPr>
            </a:pPr>
            <a:r>
              <a:t>YOLO Segmentation: 76,856 images</a:t>
            </a:r>
          </a:p>
          <a:p>
            <a:pPr algn="ctr">
              <a:defRPr sz="1100">
                <a:solidFill>
                  <a:srgbClr val="ECF0F1"/>
                </a:solidFill>
              </a:defRPr>
            </a:pPr>
            <a:r>
              <a:t>Size/Weight QC: 10,948 images</a:t>
            </a:r>
          </a:p>
          <a:p>
            <a:pPr algn="ctr">
              <a:defRPr sz="1100">
                <a:solidFill>
                  <a:srgbClr val="ECF0F1"/>
                </a:solidFill>
              </a:defRPr>
            </a:pPr>
            <a:r>
              <a:t>Source: AI Hub 과실 품질 분류 데이터</a:t>
            </a:r>
          </a:p>
          <a:p>
            <a:pPr algn="ctr">
              <a:defRPr sz="1100">
                <a:solidFill>
                  <a:srgbClr val="ECF0F1"/>
                </a:solidFill>
              </a:defRPr>
            </a:pPr>
            <a:r>
              <a:t>Variety: 후지 (Fuji) Apple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